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1" r:id="rId5"/>
    <p:sldId id="260" r:id="rId6"/>
    <p:sldId id="262" r:id="rId7"/>
    <p:sldId id="264" r:id="rId8"/>
    <p:sldId id="263" r:id="rId9"/>
    <p:sldId id="259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sis Ideathon" id="{738414BB-E90B-39D7-38DA-935763612684}">
          <p14:sldIdLst>
            <p14:sldId id="256"/>
            <p14:sldId id="257"/>
            <p14:sldId id="258"/>
            <p14:sldId id="261"/>
            <p14:sldId id="260"/>
            <p14:sldId id="262"/>
            <p14:sldId id="264"/>
            <p14:sldId id="263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141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320040"/>
            <a:ext cx="822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Genesi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950" y="384048"/>
            <a:ext cx="534131" cy="6949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0" y="6355080"/>
            <a:ext cx="7619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chemeClr val="accent6"/>
                </a:solidFill>
              </a:rPr>
              <a:t>Genesis Ideathon – Pre-Ideathon Template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259007" y="6409944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 rot="5400000">
            <a:off x="10610311" y="4686300"/>
            <a:ext cx="1425408" cy="1234440"/>
          </a:xfrm>
          <a:prstGeom prst="hexagon">
            <a:avLst/>
          </a:prstGeom>
          <a:ln w="15875">
            <a:solidFill>
              <a:schemeClr val="accent4">
                <a:alpha val="2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 rot="5400000">
            <a:off x="9750599" y="534924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2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 rot="5400000">
            <a:off x="11579399" y="384048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1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Hexagon"/>
          <p:cNvSpPr/>
          <p:nvPr/>
        </p:nvSpPr>
        <p:spPr>
          <a:xfrm rot="5400000">
            <a:off x="8841585" y="-122252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3" name="Cover Hexagon"/>
          <p:cNvSpPr/>
          <p:nvPr/>
        </p:nvSpPr>
        <p:spPr>
          <a:xfrm rot="5400000">
            <a:off x="10524081" y="1691640"/>
            <a:ext cx="3695502" cy="3200400"/>
          </a:xfrm>
          <a:prstGeom prst="hexagon">
            <a:avLst/>
          </a:prstGeom>
          <a:solidFill>
            <a:schemeClr val="accent1">
              <a:alpha val="25000"/>
            </a:schemeClr>
          </a:solidFill>
          <a:ln w="15875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4" name="Cover Hexagon"/>
          <p:cNvSpPr/>
          <p:nvPr/>
        </p:nvSpPr>
        <p:spPr>
          <a:xfrm rot="5400000">
            <a:off x="8841585" y="460580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5" name="Cover Hexagon"/>
          <p:cNvSpPr/>
          <p:nvPr/>
        </p:nvSpPr>
        <p:spPr>
          <a:xfrm rot="5400000">
            <a:off x="6613359" y="3177540"/>
            <a:ext cx="580722" cy="502920"/>
          </a:xfrm>
          <a:prstGeom prst="hexagon">
            <a:avLst/>
          </a:prstGeom>
          <a:solidFill>
            <a:schemeClr val="accent3"/>
          </a:solidFill>
          <a:ln/>
        </p:spPr>
      </p:sp>
      <p:sp>
        <p:nvSpPr>
          <p:cNvPr id="6" name="Cover Hexagon"/>
          <p:cNvSpPr/>
          <p:nvPr/>
        </p:nvSpPr>
        <p:spPr>
          <a:xfrm rot="5400000">
            <a:off x="10849583" y="1728216"/>
            <a:ext cx="337874" cy="292608"/>
          </a:xfrm>
          <a:prstGeom prst="hexagon">
            <a:avLst/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7" name="Cover Hexagon"/>
          <p:cNvSpPr/>
          <p:nvPr/>
        </p:nvSpPr>
        <p:spPr>
          <a:xfrm rot="5400000">
            <a:off x="6868728" y="1440180"/>
            <a:ext cx="4276224" cy="3703320"/>
          </a:xfrm>
          <a:prstGeom prst="hexagon">
            <a:avLst/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8" name="Cover Hexagon"/>
          <p:cNvSpPr/>
          <p:nvPr/>
        </p:nvSpPr>
        <p:spPr>
          <a:xfrm rot="5400000">
            <a:off x="6755697" y="4800600"/>
            <a:ext cx="844686" cy="731520"/>
          </a:xfrm>
          <a:prstGeom prst="hexagon">
            <a:avLst/>
          </a:prstGeom>
          <a:ln w="19050">
            <a:solidFill>
              <a:schemeClr val="accent3">
                <a:alpha val="65000"/>
              </a:schemeClr>
            </a:solidFill>
            <a:prstDash val="solid"/>
          </a:ln>
        </p:spPr>
      </p:sp>
      <p:sp>
        <p:nvSpPr>
          <p:cNvPr id="9" name="Cover Hexagon"/>
          <p:cNvSpPr/>
          <p:nvPr/>
        </p:nvSpPr>
        <p:spPr>
          <a:xfrm rot="5400000">
            <a:off x="7159089" y="1691640"/>
            <a:ext cx="3695502" cy="3200400"/>
          </a:xfrm>
          <a:prstGeom prst="hexagon">
            <a:avLst/>
          </a:prstGeom>
          <a:solidFill>
            <a:schemeClr val="bg1"/>
          </a:solidFill>
          <a:ln w="38100">
            <a:solidFill>
              <a:schemeClr val="accent3"/>
            </a:solidFill>
            <a:prstDash val="solid"/>
          </a:ln>
        </p:spPr>
      </p:sp>
      <p:pic>
        <p:nvPicPr>
          <p:cNvPr id="10" name="Genesis Logo" descr="Genesi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66" y="2125980"/>
            <a:ext cx="1792148" cy="2331720"/>
          </a:xfrm>
          <a:prstGeom prst="rect">
            <a:avLst/>
          </a:prstGeom>
        </p:spPr>
      </p:pic>
      <p:sp>
        <p:nvSpPr>
          <p:cNvPr id="11" name="Kicker"/>
          <p:cNvSpPr txBox="1"/>
          <p:nvPr/>
        </p:nvSpPr>
        <p:spPr>
          <a:xfrm>
            <a:off x="548640" y="502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3"/>
                </a:solidFill>
              </a:rPr>
              <a:t>PRE-IDEATHON TEMPLATE</a:t>
            </a:r>
            <a:endParaRPr lang="en-US" sz="1200" dirty="0"/>
          </a:p>
        </p:txBody>
      </p:sp>
      <p:sp>
        <p:nvSpPr>
          <p:cNvPr id="12" name="Event Title"/>
          <p:cNvSpPr txBox="1"/>
          <p:nvPr/>
        </p:nvSpPr>
        <p:spPr>
          <a:xfrm>
            <a:off x="548640" y="86868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GENESIS</a:t>
            </a:r>
            <a:endParaRPr lang="en-US" sz="5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IDEATHON</a:t>
            </a:r>
            <a:endParaRPr lang="en-US" sz="5400" dirty="0"/>
          </a:p>
        </p:txBody>
      </p:sp>
      <p:sp>
        <p:nvSpPr>
          <p:cNvPr id="13" name="Section Chip"/>
          <p:cNvSpPr/>
          <p:nvPr/>
        </p:nvSpPr>
        <p:spPr>
          <a:xfrm>
            <a:off x="548640" y="2366010"/>
            <a:ext cx="2103120" cy="384048"/>
          </a:xfrm>
          <a:prstGeom prst="roundRect">
            <a:avLst>
              <a:gd name="adj" fmla="val 50000"/>
            </a:avLst>
          </a:prstGeom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chemeClr val="bg1"/>
                </a:solidFill>
              </a:rPr>
              <a:t>TEAM &amp; DOMAIN</a:t>
            </a:r>
            <a:endParaRPr lang="en-US" sz="1300" dirty="0"/>
          </a:p>
        </p:txBody>
      </p:sp>
      <p:sp>
        <p:nvSpPr>
          <p:cNvPr id="15" name="Cover Fields"/>
          <p:cNvSpPr txBox="1"/>
          <p:nvPr/>
        </p:nvSpPr>
        <p:spPr>
          <a:xfrm>
            <a:off x="214604" y="2990088"/>
            <a:ext cx="8170406" cy="3783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Team Name – </a:t>
            </a:r>
            <a:r>
              <a:rPr lang="en-US" sz="2400" b="1" dirty="0" err="1">
                <a:solidFill>
                  <a:schemeClr val="bg1"/>
                </a:solidFill>
              </a:rPr>
              <a:t>QuadraMind</a:t>
            </a:r>
            <a:endParaRPr lang="en-US" sz="2400" b="1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Team Members 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spcAft>
                <a:spcPts val="1400"/>
              </a:spcAft>
              <a:buClr>
                <a:schemeClr val="accent3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S Sai </a:t>
            </a:r>
            <a:r>
              <a:rPr lang="en-US" dirty="0" err="1">
                <a:solidFill>
                  <a:schemeClr val="bg1"/>
                </a:solidFill>
              </a:rPr>
              <a:t>Swathee</a:t>
            </a:r>
            <a:r>
              <a:rPr lang="en-US" dirty="0">
                <a:solidFill>
                  <a:schemeClr val="bg1"/>
                </a:solidFill>
              </a:rPr>
              <a:t>[CB.EN.U4ECE25039]</a:t>
            </a:r>
          </a:p>
          <a:p>
            <a:pPr marL="285750" indent="-285750">
              <a:spcAft>
                <a:spcPts val="1400"/>
              </a:spcAft>
              <a:buClr>
                <a:schemeClr val="accent3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Sridha Anbukumar[CB.EN.U4CCE25051]</a:t>
            </a:r>
          </a:p>
          <a:p>
            <a:pPr marL="285750" indent="-285750">
              <a:spcAft>
                <a:spcPts val="1400"/>
              </a:spcAft>
              <a:buClr>
                <a:schemeClr val="accent3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V Harshini [CB.EN.U4CCE25059]</a:t>
            </a:r>
          </a:p>
          <a:p>
            <a:pPr marL="285750" indent="-285750">
              <a:spcAft>
                <a:spcPts val="1400"/>
              </a:spcAft>
              <a:buClr>
                <a:schemeClr val="accent3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Niveditha Krishna[CB.SC.U4CYS25133]</a:t>
            </a:r>
            <a:endParaRPr lang="en-US" sz="1800" dirty="0">
              <a:solidFill>
                <a:schemeClr val="bg1"/>
              </a:solidFill>
            </a:endParaRPr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Selected Domain – #7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Problem Statement –</a:t>
            </a:r>
            <a:r>
              <a:rPr lang="en-US" dirty="0">
                <a:solidFill>
                  <a:schemeClr val="bg1"/>
                </a:solidFill>
              </a:rPr>
              <a:t>  Motor fault detectors trust their sensor data blindly, so they can't tell a real bearing fault from a failing sensor or a cyber attack.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2676953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PROBLEM IN OUR WORDS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kern="0" spc="300" dirty="0" err="1"/>
              <a:t>QuadraMind</a:t>
            </a:r>
            <a:endParaRPr lang="en-US" sz="14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Explain the problem in your domain simply, in your own words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dirty="0"/>
              <a:t>1) What exactly needs to be solved?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dirty="0"/>
              <a:t> When a motor's bearing looks like it's failing, today's systems just say "abnormal." They never ask whether the sensor data is actually true. Hence, we need a system that can tell us why something looks wrong such as a real bearing fault (inner or outer race), a failing sensor, or someone feeding it fake data. Each of them needs a different response like  repair, replacement or a security alert and it has to work without extra sensors like working on a small chip right  next to the motor or using something the motor already gives us for free here speaking- its own physics.</a:t>
            </a: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dirty="0"/>
              <a:t>2) Why is it important right now?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dirty="0"/>
              <a:t>We keep connecting factories, wind farms, and pumping stations to the internet but the security part usually comes later and is realized only after an attack that resulted in a huge disaster. Meanwhile, the plants trust AI predictions more every year and some even let them decide when to stop a machine. That means fake data can now cause real damage like a broken motor that looks healthy or a healthy one that shuts down a whole line. For such remote machines, the data is all anyone has. We've taught machines to act on sensor data but not to question it- Is what you are giving me really true?. That is the problem we want to solve.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7">
            <a:extLst>
              <a:ext uri="{FF2B5EF4-FFF2-40B4-BE49-F238E27FC236}">
                <a16:creationId xmlns:a16="http://schemas.microsoft.com/office/drawing/2014/main" id="{3DE96EFB-3D6D-3145-5171-68F60D2BE04F}"/>
              </a:ext>
            </a:extLst>
          </p:cNvPr>
          <p:cNvSpPr>
            <a:spLocks noGrp="1"/>
          </p:cNvSpPr>
          <p:nvPr/>
        </p:nvSpPr>
        <p:spPr>
          <a:xfrm>
            <a:off x="2985640" y="348965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 defTabSz="914400" rtl="0" eaLnBrk="1" latinLnBrk="0" hangingPunct="1">
              <a:spcBef>
                <a:spcPct val="0"/>
              </a:spcBef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AFFECTED?</a:t>
            </a:r>
            <a:endParaRPr lang="en-US" sz="2400" dirty="0"/>
          </a:p>
        </p:txBody>
      </p:sp>
      <p:sp>
        <p:nvSpPr>
          <p:cNvPr id="4" name="Team Badge">
            <a:extLst>
              <a:ext uri="{FF2B5EF4-FFF2-40B4-BE49-F238E27FC236}">
                <a16:creationId xmlns:a16="http://schemas.microsoft.com/office/drawing/2014/main" id="{BF8CF313-FB35-25D1-B23F-45421BE0A621}"/>
              </a:ext>
            </a:extLst>
          </p:cNvPr>
          <p:cNvSpPr/>
          <p:nvPr/>
        </p:nvSpPr>
        <p:spPr>
          <a:xfrm>
            <a:off x="563880" y="348965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am Name">
            <a:extLst>
              <a:ext uri="{FF2B5EF4-FFF2-40B4-BE49-F238E27FC236}">
                <a16:creationId xmlns:a16="http://schemas.microsoft.com/office/drawing/2014/main" id="{D3ED02E2-4988-E651-D599-B0B7363EDC98}"/>
              </a:ext>
            </a:extLst>
          </p:cNvPr>
          <p:cNvSpPr txBox="1"/>
          <p:nvPr/>
        </p:nvSpPr>
        <p:spPr>
          <a:xfrm>
            <a:off x="1358008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kern="0" spc="300" dirty="0" err="1"/>
              <a:t>QuadraMind</a:t>
            </a:r>
            <a:endParaRPr lang="en-US" sz="1400" b="1" dirty="0"/>
          </a:p>
        </p:txBody>
      </p:sp>
      <p:sp>
        <p:nvSpPr>
          <p:cNvPr id="10" name="Team Icon Hex">
            <a:extLst>
              <a:ext uri="{FF2B5EF4-FFF2-40B4-BE49-F238E27FC236}">
                <a16:creationId xmlns:a16="http://schemas.microsoft.com/office/drawing/2014/main" id="{C641B36B-6B25-609F-7980-22FAC02B10AB}"/>
              </a:ext>
            </a:extLst>
          </p:cNvPr>
          <p:cNvSpPr/>
          <p:nvPr/>
        </p:nvSpPr>
        <p:spPr>
          <a:xfrm>
            <a:off x="645476" y="48258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12" name="Team Icon" descr="Team icon">
            <a:extLst>
              <a:ext uri="{FF2B5EF4-FFF2-40B4-BE49-F238E27FC236}">
                <a16:creationId xmlns:a16="http://schemas.microsoft.com/office/drawing/2014/main" id="{1B5D2A25-BE37-44EB-00E2-5B4197515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064" y="574020"/>
            <a:ext cx="365760" cy="365760"/>
          </a:xfrm>
          <a:prstGeom prst="rect">
            <a:avLst/>
          </a:prstGeom>
        </p:spPr>
      </p:pic>
      <p:sp>
        <p:nvSpPr>
          <p:cNvPr id="18" name="Lead Icon Hex">
            <a:extLst>
              <a:ext uri="{FF2B5EF4-FFF2-40B4-BE49-F238E27FC236}">
                <a16:creationId xmlns:a16="http://schemas.microsoft.com/office/drawing/2014/main" id="{875D786B-8780-1F3B-F71D-DE3A0D63F078}"/>
              </a:ext>
            </a:extLst>
          </p:cNvPr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20" name="Lead Icon" descr="Lightbulb icon">
            <a:extLst>
              <a:ext uri="{FF2B5EF4-FFF2-40B4-BE49-F238E27FC236}">
                <a16:creationId xmlns:a16="http://schemas.microsoft.com/office/drawing/2014/main" id="{9B019FED-394E-C6E7-0C83-601DB2AA6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22" name="Lead Text">
            <a:extLst>
              <a:ext uri="{FF2B5EF4-FFF2-40B4-BE49-F238E27FC236}">
                <a16:creationId xmlns:a16="http://schemas.microsoft.com/office/drawing/2014/main" id="{BAFD4C4A-AB0B-B294-7B3B-7C80A2A39F49}"/>
              </a:ext>
            </a:extLst>
          </p:cNvPr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Target users, stakeholders, beneficiaries</a:t>
            </a:r>
            <a:endParaRPr lang="en-US" sz="1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23E808-0662-5236-A008-95B97AFDBE8F}"/>
              </a:ext>
            </a:extLst>
          </p:cNvPr>
          <p:cNvSpPr txBox="1"/>
          <p:nvPr/>
        </p:nvSpPr>
        <p:spPr>
          <a:xfrm>
            <a:off x="8371892" y="6485708"/>
            <a:ext cx="623751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F7021451-1387-4CA6-816F-3879F97B5CBC}" type="slidenum">
              <a:rPr lang="en-US" sz="1100" b="1" smtClean="0"/>
              <a:pPr algn="ctr"/>
              <a:t>3</a:t>
            </a:fld>
            <a:endParaRPr lang="en-US" sz="11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12938B-A4C1-BE25-F86A-448D18A971ED}"/>
              </a:ext>
            </a:extLst>
          </p:cNvPr>
          <p:cNvSpPr txBox="1"/>
          <p:nvPr/>
        </p:nvSpPr>
        <p:spPr>
          <a:xfrm>
            <a:off x="1005840" y="1946641"/>
            <a:ext cx="650529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u="sng" dirty="0"/>
              <a:t>Primary users / target group:</a:t>
            </a:r>
          </a:p>
          <a:p>
            <a:r>
              <a:rPr lang="en-IN" dirty="0"/>
              <a:t>•Maintenance and reliability engineers in factories, wind farms and pumping stations.</a:t>
            </a:r>
          </a:p>
          <a:p>
            <a:r>
              <a:rPr lang="en-IN" dirty="0"/>
              <a:t>•Operators of remote or unmanned motor-driven equipment </a:t>
            </a:r>
          </a:p>
          <a:p>
            <a:endParaRPr lang="en-IN" dirty="0"/>
          </a:p>
          <a:p>
            <a:r>
              <a:rPr lang="en-IN" u="sng" dirty="0"/>
              <a:t>Secondary stakeholders:</a:t>
            </a:r>
          </a:p>
          <a:p>
            <a:r>
              <a:rPr lang="en-IN" dirty="0"/>
              <a:t>•Plant managers and production planners (downtime and cost).</a:t>
            </a:r>
          </a:p>
          <a:p>
            <a:r>
              <a:rPr lang="en-IN" dirty="0"/>
              <a:t>•OT / industrial Cyber Security teams (need to know if data is being tampered with).</a:t>
            </a:r>
          </a:p>
          <a:p>
            <a:r>
              <a:rPr lang="en-IN" dirty="0"/>
              <a:t>•Motor, drive and sensor manufacturers; utilities and water authorities.</a:t>
            </a:r>
          </a:p>
          <a:p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B607F7-946C-9464-4529-E8C603A53270}"/>
              </a:ext>
            </a:extLst>
          </p:cNvPr>
          <p:cNvSpPr txBox="1"/>
          <p:nvPr/>
        </p:nvSpPr>
        <p:spPr>
          <a:xfrm>
            <a:off x="7949682" y="1417320"/>
            <a:ext cx="407747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/>
              <a:t>Who benefits if the problem is solved?</a:t>
            </a:r>
          </a:p>
          <a:p>
            <a:endParaRPr lang="en-IN" dirty="0"/>
          </a:p>
          <a:p>
            <a:r>
              <a:rPr lang="en-IN" dirty="0"/>
              <a:t>•Plants avoid both missed faults and false shutdowns.</a:t>
            </a:r>
          </a:p>
          <a:p>
            <a:endParaRPr lang="en-IN" dirty="0"/>
          </a:p>
          <a:p>
            <a:r>
              <a:rPr lang="en-IN" dirty="0"/>
              <a:t>•Maintenance teams get the right action the first time: repair, replace or investigate.</a:t>
            </a:r>
          </a:p>
          <a:p>
            <a:endParaRPr lang="en-IN" dirty="0"/>
          </a:p>
          <a:p>
            <a:r>
              <a:rPr lang="en-IN" dirty="0"/>
              <a:t>•Security teams get an early physical-layer warning of data tampering.</a:t>
            </a:r>
          </a:p>
          <a:p>
            <a:endParaRPr lang="en-IN" dirty="0"/>
          </a:p>
          <a:p>
            <a:r>
              <a:rPr lang="en-IN" dirty="0"/>
              <a:t>•Communities relying on pumping stations and wind power get more accurate service.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C8681E4-1F93-554D-7639-2B733ADC71D8}"/>
              </a:ext>
            </a:extLst>
          </p:cNvPr>
          <p:cNvCxnSpPr>
            <a:cxnSpLocks/>
          </p:cNvCxnSpPr>
          <p:nvPr/>
        </p:nvCxnSpPr>
        <p:spPr>
          <a:xfrm>
            <a:off x="7688424" y="1315616"/>
            <a:ext cx="0" cy="43490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4CCA130-F722-ECC9-C60A-790390E70479}"/>
              </a:ext>
            </a:extLst>
          </p:cNvPr>
          <p:cNvCxnSpPr>
            <a:cxnSpLocks/>
          </p:cNvCxnSpPr>
          <p:nvPr/>
        </p:nvCxnSpPr>
        <p:spPr>
          <a:xfrm>
            <a:off x="645476" y="3219061"/>
            <a:ext cx="70429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613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D2367-7846-7E57-F971-A92789547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7">
            <a:extLst>
              <a:ext uri="{FF2B5EF4-FFF2-40B4-BE49-F238E27FC236}">
                <a16:creationId xmlns:a16="http://schemas.microsoft.com/office/drawing/2014/main" id="{B9015040-D245-7DC7-51C6-048C2FF37E52}"/>
              </a:ext>
            </a:extLst>
          </p:cNvPr>
          <p:cNvSpPr>
            <a:spLocks noGrp="1"/>
          </p:cNvSpPr>
          <p:nvPr/>
        </p:nvSpPr>
        <p:spPr>
          <a:xfrm>
            <a:off x="2985640" y="348965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 defTabSz="914400" rtl="0" eaLnBrk="1" latinLnBrk="0" hangingPunct="1">
              <a:spcBef>
                <a:spcPct val="0"/>
              </a:spcBef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SITUATION AND CONTEXT</a:t>
            </a:r>
            <a:endParaRPr lang="en-US" sz="2400" dirty="0"/>
          </a:p>
        </p:txBody>
      </p:sp>
      <p:sp>
        <p:nvSpPr>
          <p:cNvPr id="4" name="Team Badge">
            <a:extLst>
              <a:ext uri="{FF2B5EF4-FFF2-40B4-BE49-F238E27FC236}">
                <a16:creationId xmlns:a16="http://schemas.microsoft.com/office/drawing/2014/main" id="{68D70E9E-F92A-38F8-2EAF-7AE0E1223194}"/>
              </a:ext>
            </a:extLst>
          </p:cNvPr>
          <p:cNvSpPr/>
          <p:nvPr/>
        </p:nvSpPr>
        <p:spPr>
          <a:xfrm>
            <a:off x="563880" y="348965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am Name">
            <a:extLst>
              <a:ext uri="{FF2B5EF4-FFF2-40B4-BE49-F238E27FC236}">
                <a16:creationId xmlns:a16="http://schemas.microsoft.com/office/drawing/2014/main" id="{F061D653-4F57-C718-23EE-B7B3575CEB50}"/>
              </a:ext>
            </a:extLst>
          </p:cNvPr>
          <p:cNvSpPr txBox="1"/>
          <p:nvPr/>
        </p:nvSpPr>
        <p:spPr>
          <a:xfrm>
            <a:off x="1358008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kern="0" spc="300" dirty="0" err="1"/>
              <a:t>QuadraMind</a:t>
            </a:r>
            <a:endParaRPr lang="en-US" sz="1400" b="1" dirty="0"/>
          </a:p>
        </p:txBody>
      </p:sp>
      <p:sp>
        <p:nvSpPr>
          <p:cNvPr id="10" name="Team Icon Hex">
            <a:extLst>
              <a:ext uri="{FF2B5EF4-FFF2-40B4-BE49-F238E27FC236}">
                <a16:creationId xmlns:a16="http://schemas.microsoft.com/office/drawing/2014/main" id="{D9502D2A-5EAE-C69A-0169-5CCC0365C318}"/>
              </a:ext>
            </a:extLst>
          </p:cNvPr>
          <p:cNvSpPr/>
          <p:nvPr/>
        </p:nvSpPr>
        <p:spPr>
          <a:xfrm>
            <a:off x="645476" y="48258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12" name="Team Icon" descr="Team icon">
            <a:extLst>
              <a:ext uri="{FF2B5EF4-FFF2-40B4-BE49-F238E27FC236}">
                <a16:creationId xmlns:a16="http://schemas.microsoft.com/office/drawing/2014/main" id="{81D3E727-ADA8-8FAD-87EC-D228CD9BA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064" y="574020"/>
            <a:ext cx="365760" cy="365760"/>
          </a:xfrm>
          <a:prstGeom prst="rect">
            <a:avLst/>
          </a:prstGeom>
        </p:spPr>
      </p:pic>
      <p:sp>
        <p:nvSpPr>
          <p:cNvPr id="18" name="Lead Icon Hex">
            <a:extLst>
              <a:ext uri="{FF2B5EF4-FFF2-40B4-BE49-F238E27FC236}">
                <a16:creationId xmlns:a16="http://schemas.microsoft.com/office/drawing/2014/main" id="{B082B2DA-52BE-F729-F50E-62F3AD8896F6}"/>
              </a:ext>
            </a:extLst>
          </p:cNvPr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20" name="Lead Icon" descr="Lightbulb icon">
            <a:extLst>
              <a:ext uri="{FF2B5EF4-FFF2-40B4-BE49-F238E27FC236}">
                <a16:creationId xmlns:a16="http://schemas.microsoft.com/office/drawing/2014/main" id="{5C061F58-DCB5-18E7-7040-3FFB2D00F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89D5FEA-BA63-FA3B-98AA-C63F0145FB7E}"/>
              </a:ext>
            </a:extLst>
          </p:cNvPr>
          <p:cNvSpPr txBox="1"/>
          <p:nvPr/>
        </p:nvSpPr>
        <p:spPr>
          <a:xfrm>
            <a:off x="8371892" y="6485708"/>
            <a:ext cx="623751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F7021451-1387-4CA6-816F-3879F97B5CBC}" type="slidenum">
              <a:rPr lang="en-US" sz="1100" b="1" smtClean="0"/>
              <a:pPr algn="ctr"/>
              <a:t>4</a:t>
            </a:fld>
            <a:endParaRPr 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7AE6E6-10CE-F501-A713-FA4B6D48F5D4}"/>
              </a:ext>
            </a:extLst>
          </p:cNvPr>
          <p:cNvSpPr txBox="1"/>
          <p:nvPr/>
        </p:nvSpPr>
        <p:spPr>
          <a:xfrm>
            <a:off x="1059026" y="1325289"/>
            <a:ext cx="576165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u="sng" dirty="0"/>
              <a:t>Existing Scenario:</a:t>
            </a:r>
          </a:p>
          <a:p>
            <a:endParaRPr lang="en-IN" u="sng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 Motors are monitored using vibration and current signals to detect bearing faults.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 AI models predict machine health and raise alarms when something goes wrong.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 Faulty sensors or cyberattacks can make the data misleading.</a:t>
            </a:r>
          </a:p>
          <a:p>
            <a:endParaRPr lang="en-IN" dirty="0"/>
          </a:p>
          <a:p>
            <a:r>
              <a:rPr lang="en-IN" u="sng" dirty="0"/>
              <a:t>Relevant Facts:</a:t>
            </a:r>
          </a:p>
          <a:p>
            <a:endParaRPr lang="en-IN" u="sng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 Bearing faults create specific patterns in vibration and motor current.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 Fake data can mislead AI models and affect maintenance decisions.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78D188-D6CD-BA72-14EB-80FCFE0CFE4E}"/>
              </a:ext>
            </a:extLst>
          </p:cNvPr>
          <p:cNvSpPr txBox="1"/>
          <p:nvPr/>
        </p:nvSpPr>
        <p:spPr>
          <a:xfrm>
            <a:off x="7931020" y="1660550"/>
            <a:ext cx="3806890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u="sng" dirty="0"/>
              <a:t>How It Works Today?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342900" indent="-342900">
              <a:buAutoNum type="arabicPeriod"/>
            </a:pPr>
            <a:r>
              <a:rPr lang="en-IN" dirty="0"/>
              <a:t>Sensors collect motor data.</a:t>
            </a:r>
          </a:p>
          <a:p>
            <a:pPr marL="342900" indent="-342900">
              <a:buAutoNum type="arabicPeriod"/>
            </a:pPr>
            <a:r>
              <a:rPr lang="en-IN" dirty="0"/>
              <a:t>Data is sent to the monitoring system.</a:t>
            </a:r>
          </a:p>
          <a:p>
            <a:pPr marL="342900" indent="-342900">
              <a:buAutoNum type="arabicPeriod"/>
            </a:pPr>
            <a:r>
              <a:rPr lang="en-IN" dirty="0"/>
              <a:t>AI checks whether the motor is normal or abnormal.</a:t>
            </a:r>
          </a:p>
          <a:p>
            <a:pPr marL="342900" indent="-342900">
              <a:buAutoNum type="arabicPeriod"/>
            </a:pPr>
            <a:r>
              <a:rPr lang="en-IN" dirty="0"/>
              <a:t>An alarm is raised or the motor is stopped.</a:t>
            </a:r>
          </a:p>
          <a:p>
            <a:pPr marL="342900" indent="-342900">
              <a:buAutoNum type="arabicPeriod"/>
            </a:pPr>
            <a:r>
              <a:rPr lang="en-IN" dirty="0"/>
              <a:t>The system may not check whether the data itself can be trusted.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BE5F91-8BAD-AF59-53BD-37F47681B023}"/>
              </a:ext>
            </a:extLst>
          </p:cNvPr>
          <p:cNvCxnSpPr/>
          <p:nvPr/>
        </p:nvCxnSpPr>
        <p:spPr>
          <a:xfrm>
            <a:off x="645476" y="3620277"/>
            <a:ext cx="65204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9154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3C22B-35F8-277B-C9A6-BFD129694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7">
            <a:extLst>
              <a:ext uri="{FF2B5EF4-FFF2-40B4-BE49-F238E27FC236}">
                <a16:creationId xmlns:a16="http://schemas.microsoft.com/office/drawing/2014/main" id="{BFAE9C18-2FD1-5679-AE9B-8C19646761E8}"/>
              </a:ext>
            </a:extLst>
          </p:cNvPr>
          <p:cNvSpPr>
            <a:spLocks noGrp="1"/>
          </p:cNvSpPr>
          <p:nvPr/>
        </p:nvSpPr>
        <p:spPr>
          <a:xfrm>
            <a:off x="2985640" y="348965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 defTabSz="914400" rtl="0" eaLnBrk="1" latinLnBrk="0" hangingPunct="1">
              <a:spcBef>
                <a:spcPct val="0"/>
              </a:spcBef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</a:t>
            </a:r>
            <a:endParaRPr lang="en-US" sz="2400" dirty="0"/>
          </a:p>
        </p:txBody>
      </p:sp>
      <p:sp>
        <p:nvSpPr>
          <p:cNvPr id="4" name="Team Badge">
            <a:extLst>
              <a:ext uri="{FF2B5EF4-FFF2-40B4-BE49-F238E27FC236}">
                <a16:creationId xmlns:a16="http://schemas.microsoft.com/office/drawing/2014/main" id="{E142428C-0DAE-38F7-58D1-23BD709054AA}"/>
              </a:ext>
            </a:extLst>
          </p:cNvPr>
          <p:cNvSpPr/>
          <p:nvPr/>
        </p:nvSpPr>
        <p:spPr>
          <a:xfrm>
            <a:off x="640080" y="384572"/>
            <a:ext cx="2524444" cy="698862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r>
              <a:rPr lang="en-IN" sz="1400" spc="300" dirty="0"/>
              <a:t>      </a:t>
            </a:r>
          </a:p>
          <a:p>
            <a:r>
              <a:rPr lang="en-IN" sz="1400" spc="300" dirty="0"/>
              <a:t>         </a:t>
            </a:r>
            <a:r>
              <a:rPr lang="en-IN" sz="1400" b="1" spc="300" dirty="0" err="1"/>
              <a:t>QuadraMind</a:t>
            </a:r>
            <a:endParaRPr lang="en-IN" sz="1400" b="1" spc="300" dirty="0"/>
          </a:p>
        </p:txBody>
      </p:sp>
      <p:sp>
        <p:nvSpPr>
          <p:cNvPr id="10" name="Team Icon Hex">
            <a:extLst>
              <a:ext uri="{FF2B5EF4-FFF2-40B4-BE49-F238E27FC236}">
                <a16:creationId xmlns:a16="http://schemas.microsoft.com/office/drawing/2014/main" id="{A8E13D55-0CA9-F272-EE3D-47CD5BCE3B26}"/>
              </a:ext>
            </a:extLst>
          </p:cNvPr>
          <p:cNvSpPr/>
          <p:nvPr/>
        </p:nvSpPr>
        <p:spPr>
          <a:xfrm>
            <a:off x="645476" y="48258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12" name="Team Icon" descr="Team icon">
            <a:extLst>
              <a:ext uri="{FF2B5EF4-FFF2-40B4-BE49-F238E27FC236}">
                <a16:creationId xmlns:a16="http://schemas.microsoft.com/office/drawing/2014/main" id="{60B8D385-B829-C725-F68D-C6FA65C44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52933"/>
            <a:ext cx="365760" cy="365760"/>
          </a:xfrm>
          <a:prstGeom prst="rect">
            <a:avLst/>
          </a:prstGeom>
        </p:spPr>
      </p:pic>
      <p:sp>
        <p:nvSpPr>
          <p:cNvPr id="18" name="Lead Icon Hex">
            <a:extLst>
              <a:ext uri="{FF2B5EF4-FFF2-40B4-BE49-F238E27FC236}">
                <a16:creationId xmlns:a16="http://schemas.microsoft.com/office/drawing/2014/main" id="{5299A764-25E0-9370-DCA7-C19F573C79D6}"/>
              </a:ext>
            </a:extLst>
          </p:cNvPr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20" name="Lead Icon" descr="Lightbulb icon">
            <a:extLst>
              <a:ext uri="{FF2B5EF4-FFF2-40B4-BE49-F238E27FC236}">
                <a16:creationId xmlns:a16="http://schemas.microsoft.com/office/drawing/2014/main" id="{AFD8DE05-07E6-C235-5903-A0BFFAA4A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5638A7E-7215-382B-A9BC-1B445B64CC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782847"/>
              </p:ext>
            </p:extLst>
          </p:nvPr>
        </p:nvGraphicFramePr>
        <p:xfrm>
          <a:off x="960944" y="1242278"/>
          <a:ext cx="10750731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3577">
                  <a:extLst>
                    <a:ext uri="{9D8B030D-6E8A-4147-A177-3AD203B41FA5}">
                      <a16:colId xmlns:a16="http://schemas.microsoft.com/office/drawing/2014/main" val="3283635214"/>
                    </a:ext>
                  </a:extLst>
                </a:gridCol>
                <a:gridCol w="3583577">
                  <a:extLst>
                    <a:ext uri="{9D8B030D-6E8A-4147-A177-3AD203B41FA5}">
                      <a16:colId xmlns:a16="http://schemas.microsoft.com/office/drawing/2014/main" val="4284186095"/>
                    </a:ext>
                  </a:extLst>
                </a:gridCol>
                <a:gridCol w="3583577">
                  <a:extLst>
                    <a:ext uri="{9D8B030D-6E8A-4147-A177-3AD203B41FA5}">
                      <a16:colId xmlns:a16="http://schemas.microsoft.com/office/drawing/2014/main" val="860762214"/>
                    </a:ext>
                  </a:extLst>
                </a:gridCol>
              </a:tblGrid>
              <a:tr h="3444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Main difficulties and bottlenecks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Root causes for the problems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Consequences of leaving them unsolved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2906412"/>
                  </a:ext>
                </a:extLst>
              </a:tr>
              <a:tr h="4203068">
                <a:tc>
                  <a:txBody>
                    <a:bodyPr/>
                    <a:lstStyle/>
                    <a:p>
                      <a:pPr marL="342900" lvl="0" indent="-342900">
                        <a:buAutoNum type="arabicParenR"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 </a:t>
                      </a:r>
                      <a:r>
                        <a:rPr lang="en-IN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abnormal</a:t>
                      </a:r>
                      <a:r>
                        <a:rPr lang="en-IN" sz="1800" u="non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alarm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cannot say what the actual cause is: 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è"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bearing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è"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sensor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è"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its an attack.</a:t>
                      </a:r>
                    </a:p>
                    <a:p>
                      <a:pPr marL="0" lvl="0" indent="0">
                        <a:buFont typeface="Wingdings" panose="05000000000000000000" pitchFamily="2" charset="2"/>
                        <a:buNone/>
                      </a:pP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2) Fault, sensor failure and attacks can look quite similar in a single signal. Also, edge devices have limited computing power and adding sensors increases cost and complexity.</a:t>
                      </a:r>
                    </a:p>
                    <a:p>
                      <a:pPr lvl="0"/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3) Remote machines provide no easy way to verify data independently.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 algn="l">
                        <a:buAutoNum type="arabicParenR"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detectors are designed on the assumption that the sensor data produced is always true.</a:t>
                      </a:r>
                    </a:p>
                    <a:p>
                      <a:pPr marL="342900" lvl="0" indent="-342900" algn="l">
                        <a:buAutoNum type="arabicParenR"/>
                      </a:pP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security is added after connectivity, not designed in.</a:t>
                      </a:r>
                    </a:p>
                    <a:p>
                      <a:pPr marL="342900" lvl="0" indent="-342900" algn="l">
                        <a:buAutoNum type="arabicParenR"/>
                      </a:pP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>
                        <a:buNone/>
                      </a:pP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algn="l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AutoNum type="arabicParenR"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Faulty motors that look healthy continue to run and fail.</a:t>
                      </a:r>
                    </a:p>
                    <a:p>
                      <a:pPr marL="342900" lvl="0" indent="-342900">
                        <a:buAutoNum type="arabicParenR"/>
                      </a:pP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Healthy motors are shut down, halting lines or services.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Wrong response: repairing a motor when the sensor or the data link is the real problem.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Attacks stay hidden inside what looks like a maintenance event.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>
                        <a:buNone/>
                      </a:pP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50109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BCE04C0-8876-85D8-D547-AAF1BD30174D}"/>
              </a:ext>
            </a:extLst>
          </p:cNvPr>
          <p:cNvSpPr txBox="1"/>
          <p:nvPr/>
        </p:nvSpPr>
        <p:spPr>
          <a:xfrm>
            <a:off x="8437207" y="6485708"/>
            <a:ext cx="623751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F7021451-1387-4CA6-816F-3879F97B5CBC}" type="slidenum">
              <a:rPr lang="en-US" sz="1100" b="1" smtClean="0"/>
              <a:pPr algn="ctr"/>
              <a:t>5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606376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23734-13DE-3EA5-96DD-148967636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7">
            <a:extLst>
              <a:ext uri="{FF2B5EF4-FFF2-40B4-BE49-F238E27FC236}">
                <a16:creationId xmlns:a16="http://schemas.microsoft.com/office/drawing/2014/main" id="{1359E8E1-7EBB-FF4D-85A3-465090AA8B70}"/>
              </a:ext>
            </a:extLst>
          </p:cNvPr>
          <p:cNvSpPr>
            <a:spLocks noGrp="1"/>
          </p:cNvSpPr>
          <p:nvPr/>
        </p:nvSpPr>
        <p:spPr>
          <a:xfrm>
            <a:off x="2985640" y="394361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 defTabSz="914400" rtl="0" eaLnBrk="1" latinLnBrk="0" hangingPunct="1">
              <a:spcBef>
                <a:spcPct val="0"/>
              </a:spcBef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r>
              <a:rPr lang="en-US" dirty="0"/>
              <a:t>EXISTING SOLUTIONS / APPROACHES</a:t>
            </a:r>
            <a:endParaRPr lang="en-US" sz="2400" dirty="0"/>
          </a:p>
        </p:txBody>
      </p:sp>
      <p:sp>
        <p:nvSpPr>
          <p:cNvPr id="4" name="Team Badge">
            <a:extLst>
              <a:ext uri="{FF2B5EF4-FFF2-40B4-BE49-F238E27FC236}">
                <a16:creationId xmlns:a16="http://schemas.microsoft.com/office/drawing/2014/main" id="{E8D112CB-E0DA-4937-3500-D7BD8BD64E62}"/>
              </a:ext>
            </a:extLst>
          </p:cNvPr>
          <p:cNvSpPr/>
          <p:nvPr/>
        </p:nvSpPr>
        <p:spPr>
          <a:xfrm>
            <a:off x="563880" y="348965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am Name">
            <a:extLst>
              <a:ext uri="{FF2B5EF4-FFF2-40B4-BE49-F238E27FC236}">
                <a16:creationId xmlns:a16="http://schemas.microsoft.com/office/drawing/2014/main" id="{C93ECC36-E95C-8B3E-ACBD-6FFF1331EFD9}"/>
              </a:ext>
            </a:extLst>
          </p:cNvPr>
          <p:cNvSpPr txBox="1"/>
          <p:nvPr/>
        </p:nvSpPr>
        <p:spPr>
          <a:xfrm>
            <a:off x="1358008" y="409428"/>
            <a:ext cx="1811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spc="300" dirty="0" err="1"/>
              <a:t>QuadraMind</a:t>
            </a:r>
            <a:endParaRPr lang="en-US" sz="1400" b="1" spc="300" dirty="0"/>
          </a:p>
        </p:txBody>
      </p:sp>
      <p:sp>
        <p:nvSpPr>
          <p:cNvPr id="10" name="Team Icon Hex">
            <a:extLst>
              <a:ext uri="{FF2B5EF4-FFF2-40B4-BE49-F238E27FC236}">
                <a16:creationId xmlns:a16="http://schemas.microsoft.com/office/drawing/2014/main" id="{B1AC99F3-A9E0-372F-E314-F645187CE851}"/>
              </a:ext>
            </a:extLst>
          </p:cNvPr>
          <p:cNvSpPr/>
          <p:nvPr/>
        </p:nvSpPr>
        <p:spPr>
          <a:xfrm>
            <a:off x="645476" y="48258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12" name="Team Icon" descr="Team icon">
            <a:extLst>
              <a:ext uri="{FF2B5EF4-FFF2-40B4-BE49-F238E27FC236}">
                <a16:creationId xmlns:a16="http://schemas.microsoft.com/office/drawing/2014/main" id="{2546019A-63F5-0E2A-FB78-9A4E2CF9C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064" y="574020"/>
            <a:ext cx="365760" cy="365760"/>
          </a:xfrm>
          <a:prstGeom prst="rect">
            <a:avLst/>
          </a:prstGeom>
        </p:spPr>
      </p:pic>
      <p:sp>
        <p:nvSpPr>
          <p:cNvPr id="18" name="Lead Icon Hex">
            <a:extLst>
              <a:ext uri="{FF2B5EF4-FFF2-40B4-BE49-F238E27FC236}">
                <a16:creationId xmlns:a16="http://schemas.microsoft.com/office/drawing/2014/main" id="{A6C895D6-6002-4BD5-BE9C-A93C541E8889}"/>
              </a:ext>
            </a:extLst>
          </p:cNvPr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20" name="Lead Icon" descr="Lightbulb icon">
            <a:extLst>
              <a:ext uri="{FF2B5EF4-FFF2-40B4-BE49-F238E27FC236}">
                <a16:creationId xmlns:a16="http://schemas.microsoft.com/office/drawing/2014/main" id="{DCD3FBA2-3D6F-60F4-81CF-999BC116A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C5EE811-D3B7-D044-5224-AAA628E99C92}"/>
              </a:ext>
            </a:extLst>
          </p:cNvPr>
          <p:cNvSpPr txBox="1"/>
          <p:nvPr/>
        </p:nvSpPr>
        <p:spPr>
          <a:xfrm>
            <a:off x="8371892" y="6485708"/>
            <a:ext cx="623751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F7021451-1387-4CA6-816F-3879F97B5CBC}" type="slidenum">
              <a:rPr lang="en-US" sz="1100" b="1" smtClean="0"/>
              <a:pPr algn="ctr"/>
              <a:t>6</a:t>
            </a:fld>
            <a:endParaRPr lang="en-US" sz="11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FA96E05-D273-89DD-D9D1-4F7BF094A2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308930"/>
              </p:ext>
            </p:extLst>
          </p:nvPr>
        </p:nvGraphicFramePr>
        <p:xfrm>
          <a:off x="1059443" y="1195202"/>
          <a:ext cx="10763589" cy="5168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7863">
                  <a:extLst>
                    <a:ext uri="{9D8B030D-6E8A-4147-A177-3AD203B41FA5}">
                      <a16:colId xmlns:a16="http://schemas.microsoft.com/office/drawing/2014/main" val="941193677"/>
                    </a:ext>
                  </a:extLst>
                </a:gridCol>
                <a:gridCol w="3587863">
                  <a:extLst>
                    <a:ext uri="{9D8B030D-6E8A-4147-A177-3AD203B41FA5}">
                      <a16:colId xmlns:a16="http://schemas.microsoft.com/office/drawing/2014/main" val="3714570876"/>
                    </a:ext>
                  </a:extLst>
                </a:gridCol>
                <a:gridCol w="3587863">
                  <a:extLst>
                    <a:ext uri="{9D8B030D-6E8A-4147-A177-3AD203B41FA5}">
                      <a16:colId xmlns:a16="http://schemas.microsoft.com/office/drawing/2014/main" val="1524432670"/>
                    </a:ext>
                  </a:extLst>
                </a:gridCol>
              </a:tblGrid>
              <a:tr h="755254"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Existing approach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What it does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024381"/>
                  </a:ext>
                </a:extLst>
              </a:tr>
              <a:tr h="755254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Motor current signature analysis (MCSA)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Diagnoses bearing faults from stator current without extra sensors; also run on a microcontroller (Sung 2025).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Assumes the current signal is trustworthy; no sensor-fault or attack check.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594816"/>
                  </a:ext>
                </a:extLst>
              </a:tr>
              <a:tr h="755254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Current + vibration fusion (e.g., CNN-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ELMNet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Yi 2024; Koura 2021)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Combines signals for higher fault-classification accuracy.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Treats all sensors as trusted inputs.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174341"/>
                  </a:ext>
                </a:extLst>
              </a:tr>
              <a:tr h="755254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 framework (Sim 2026)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Physics-guided consistency check using a spatially separated reference sensor.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Needs an added sensor; does not separate faults, sensor failures and attacks.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2672241"/>
                  </a:ext>
                </a:extLst>
              </a:tr>
              <a:tr h="755254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FDI and replay attack detection (Mode 2020; 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Gargoum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2025; Pang 2021)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Detects false or replayed data in control and power systems.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applied to motor bearing diagnosis or condition monitoring.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179141"/>
                  </a:ext>
                </a:extLst>
              </a:tr>
              <a:tr h="612256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Residual-based sensor vs. process fault separation (Diedrich 2022)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Uses physics models to tell sensor faults from process faults.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cyber-attack class; not specific to bearings on edge hardware.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401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971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7FBE6-39D8-6EFC-AE55-F02E1EC30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7">
            <a:extLst>
              <a:ext uri="{FF2B5EF4-FFF2-40B4-BE49-F238E27FC236}">
                <a16:creationId xmlns:a16="http://schemas.microsoft.com/office/drawing/2014/main" id="{05C3A6C6-FAFE-71AA-3EB6-F74C902EEECD}"/>
              </a:ext>
            </a:extLst>
          </p:cNvPr>
          <p:cNvSpPr>
            <a:spLocks noGrp="1"/>
          </p:cNvSpPr>
          <p:nvPr/>
        </p:nvSpPr>
        <p:spPr>
          <a:xfrm>
            <a:off x="2985640" y="348965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 defTabSz="914400" rtl="0" eaLnBrk="1" latinLnBrk="0" hangingPunct="1">
              <a:spcBef>
                <a:spcPct val="0"/>
              </a:spcBef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4" name="Team Badge">
            <a:extLst>
              <a:ext uri="{FF2B5EF4-FFF2-40B4-BE49-F238E27FC236}">
                <a16:creationId xmlns:a16="http://schemas.microsoft.com/office/drawing/2014/main" id="{2318B65C-3D1B-FB8C-4D72-0B3244CAF460}"/>
              </a:ext>
            </a:extLst>
          </p:cNvPr>
          <p:cNvSpPr/>
          <p:nvPr/>
        </p:nvSpPr>
        <p:spPr>
          <a:xfrm>
            <a:off x="563880" y="348965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am Name">
            <a:extLst>
              <a:ext uri="{FF2B5EF4-FFF2-40B4-BE49-F238E27FC236}">
                <a16:creationId xmlns:a16="http://schemas.microsoft.com/office/drawing/2014/main" id="{BCA983B2-82F1-68CB-792F-748D48CE3B08}"/>
              </a:ext>
            </a:extLst>
          </p:cNvPr>
          <p:cNvSpPr txBox="1"/>
          <p:nvPr/>
        </p:nvSpPr>
        <p:spPr>
          <a:xfrm>
            <a:off x="1358008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kern="0" spc="300" dirty="0" err="1"/>
              <a:t>QuadraMind</a:t>
            </a:r>
            <a:endParaRPr lang="en-US" sz="1400" b="1" dirty="0"/>
          </a:p>
        </p:txBody>
      </p:sp>
      <p:sp>
        <p:nvSpPr>
          <p:cNvPr id="10" name="Team Icon Hex">
            <a:extLst>
              <a:ext uri="{FF2B5EF4-FFF2-40B4-BE49-F238E27FC236}">
                <a16:creationId xmlns:a16="http://schemas.microsoft.com/office/drawing/2014/main" id="{7F20747C-32F9-84C2-B189-648CBDDBF9E0}"/>
              </a:ext>
            </a:extLst>
          </p:cNvPr>
          <p:cNvSpPr/>
          <p:nvPr/>
        </p:nvSpPr>
        <p:spPr>
          <a:xfrm>
            <a:off x="645476" y="48258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12" name="Team Icon" descr="Team icon">
            <a:extLst>
              <a:ext uri="{FF2B5EF4-FFF2-40B4-BE49-F238E27FC236}">
                <a16:creationId xmlns:a16="http://schemas.microsoft.com/office/drawing/2014/main" id="{214EED47-3E8F-F145-7AB3-6415B3EFE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064" y="574020"/>
            <a:ext cx="365760" cy="365760"/>
          </a:xfrm>
          <a:prstGeom prst="rect">
            <a:avLst/>
          </a:prstGeom>
        </p:spPr>
      </p:pic>
      <p:sp>
        <p:nvSpPr>
          <p:cNvPr id="18" name="Lead Icon Hex">
            <a:extLst>
              <a:ext uri="{FF2B5EF4-FFF2-40B4-BE49-F238E27FC236}">
                <a16:creationId xmlns:a16="http://schemas.microsoft.com/office/drawing/2014/main" id="{15DBCECC-1FEA-CFEC-761A-1F0EE8E6B1E0}"/>
              </a:ext>
            </a:extLst>
          </p:cNvPr>
          <p:cNvSpPr/>
          <p:nvPr/>
        </p:nvSpPr>
        <p:spPr>
          <a:xfrm>
            <a:off x="251872" y="1265072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20" name="Lead Icon" descr="Lightbulb icon">
            <a:extLst>
              <a:ext uri="{FF2B5EF4-FFF2-40B4-BE49-F238E27FC236}">
                <a16:creationId xmlns:a16="http://schemas.microsoft.com/office/drawing/2014/main" id="{858C03BF-BDFA-3973-7D6F-3C37FC9B8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088" y="1325879"/>
            <a:ext cx="274320" cy="27432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92A5DF9-BFA4-1E02-076A-0A7E0E022B5A}"/>
              </a:ext>
            </a:extLst>
          </p:cNvPr>
          <p:cNvSpPr txBox="1"/>
          <p:nvPr/>
        </p:nvSpPr>
        <p:spPr>
          <a:xfrm>
            <a:off x="8371892" y="6485708"/>
            <a:ext cx="623751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F7021451-1387-4CA6-816F-3879F97B5CBC}" type="slidenum">
              <a:rPr lang="en-US" sz="1100" b="1" smtClean="0"/>
              <a:pPr algn="ctr"/>
              <a:t>7</a:t>
            </a:fld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2225BC-8C6C-1CBD-EA1C-20A1D050581B}"/>
              </a:ext>
            </a:extLst>
          </p:cNvPr>
          <p:cNvSpPr txBox="1"/>
          <p:nvPr/>
        </p:nvSpPr>
        <p:spPr>
          <a:xfrm>
            <a:off x="778064" y="1114075"/>
            <a:ext cx="1122143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Resources required to solve the problem:</a:t>
            </a:r>
          </a:p>
          <a:p>
            <a:r>
              <a:rPr lang="en-IN" u="sng" dirty="0"/>
              <a:t>Hardware requirements:</a:t>
            </a:r>
          </a:p>
          <a:p>
            <a:endParaRPr lang="en-IN" dirty="0"/>
          </a:p>
          <a:p>
            <a:r>
              <a:rPr lang="en-IN" dirty="0"/>
              <a:t>•Microcontroller or small edge board placed next to the motor.</a:t>
            </a:r>
          </a:p>
          <a:p>
            <a:r>
              <a:rPr lang="en-IN" dirty="0"/>
              <a:t>•Existing motor signals only: stator current (already available from the drive), shaft speed, and the vibration sensor which is already in use.</a:t>
            </a:r>
          </a:p>
          <a:p>
            <a:r>
              <a:rPr lang="en-IN" dirty="0"/>
              <a:t>•Motor and bearing test rig for validation, if available; otherwise public bearing datasets is used. Software requirements</a:t>
            </a:r>
          </a:p>
          <a:p>
            <a:endParaRPr lang="en-IN" dirty="0"/>
          </a:p>
          <a:p>
            <a:r>
              <a:rPr lang="en-IN" u="sng" dirty="0"/>
              <a:t>Software requirements: </a:t>
            </a:r>
          </a:p>
          <a:p>
            <a:endParaRPr lang="en-IN" dirty="0"/>
          </a:p>
          <a:p>
            <a:r>
              <a:rPr lang="en-IN" dirty="0"/>
              <a:t>•Signal processing: FFT, envelope analysis, statistical features.</a:t>
            </a:r>
          </a:p>
          <a:p>
            <a:r>
              <a:rPr lang="en-IN" dirty="0"/>
              <a:t>•Lightweight classifier (decision tree, random forest or tiny neural network).</a:t>
            </a:r>
          </a:p>
          <a:p>
            <a:r>
              <a:rPr lang="en-IN" dirty="0"/>
              <a:t>•Python / MATLAB for simulation; embedded C or </a:t>
            </a:r>
            <a:r>
              <a:rPr lang="en-IN" dirty="0" err="1"/>
              <a:t>TinyML</a:t>
            </a:r>
            <a:r>
              <a:rPr lang="en-IN" dirty="0"/>
              <a:t> tools for deployment. Public datasets such as CWRU or Paderborn, plus synthetic injection of sensor faults and attacks. </a:t>
            </a:r>
          </a:p>
          <a:p>
            <a:endParaRPr lang="en-IN" dirty="0"/>
          </a:p>
          <a:p>
            <a:r>
              <a:rPr lang="en-IN" u="sng" dirty="0"/>
              <a:t>Other resources (including human resources):</a:t>
            </a:r>
          </a:p>
          <a:p>
            <a:r>
              <a:rPr lang="en-IN" dirty="0"/>
              <a:t>•Team skills: signal processing, embedded systems, machine learning, and cybersecurity and access to published research on MCSA, sensor-fault diagnosis and false data injection.</a:t>
            </a: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5F8AC193-A85E-1F8D-AA70-3C9068843B8C}"/>
              </a:ext>
            </a:extLst>
          </p:cNvPr>
          <p:cNvSpPr>
            <a:spLocks noGrp="1"/>
          </p:cNvSpPr>
          <p:nvPr/>
        </p:nvSpPr>
        <p:spPr>
          <a:xfrm>
            <a:off x="31699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 defTabSz="914400" rtl="0" eaLnBrk="1" latinLnBrk="0" hangingPunct="1">
              <a:spcBef>
                <a:spcPct val="0"/>
              </a:spcBef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r>
              <a:rPr lang="en-US" sz="2400" dirty="0"/>
              <a:t>PROBLEM INSIGHTS AND OPPORTUNITIES</a:t>
            </a:r>
          </a:p>
        </p:txBody>
      </p:sp>
    </p:spTree>
    <p:extLst>
      <p:ext uri="{BB962C8B-B14F-4D97-AF65-F5344CB8AC3E}">
        <p14:creationId xmlns:p14="http://schemas.microsoft.com/office/powerpoint/2010/main" val="587484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B7AF8-313E-D648-1ED7-2A9DDB66B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7">
            <a:extLst>
              <a:ext uri="{FF2B5EF4-FFF2-40B4-BE49-F238E27FC236}">
                <a16:creationId xmlns:a16="http://schemas.microsoft.com/office/drawing/2014/main" id="{30781973-7CB3-8704-9F24-EE6C8770FDBF}"/>
              </a:ext>
            </a:extLst>
          </p:cNvPr>
          <p:cNvSpPr>
            <a:spLocks noGrp="1"/>
          </p:cNvSpPr>
          <p:nvPr/>
        </p:nvSpPr>
        <p:spPr>
          <a:xfrm>
            <a:off x="2985640" y="348965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 defTabSz="914400" rtl="0" eaLnBrk="1" latinLnBrk="0" hangingPunct="1">
              <a:spcBef>
                <a:spcPct val="0"/>
              </a:spcBef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r>
              <a:rPr lang="en-US" dirty="0"/>
              <a:t>INITIAL DIRECTION &amp; EXPECTED OUTCOME</a:t>
            </a:r>
            <a:endParaRPr lang="en-US" sz="2400" dirty="0"/>
          </a:p>
        </p:txBody>
      </p:sp>
      <p:sp>
        <p:nvSpPr>
          <p:cNvPr id="4" name="Team Badge">
            <a:extLst>
              <a:ext uri="{FF2B5EF4-FFF2-40B4-BE49-F238E27FC236}">
                <a16:creationId xmlns:a16="http://schemas.microsoft.com/office/drawing/2014/main" id="{608F0377-B440-42F0-8D86-F076EDE9BCD2}"/>
              </a:ext>
            </a:extLst>
          </p:cNvPr>
          <p:cNvSpPr/>
          <p:nvPr/>
        </p:nvSpPr>
        <p:spPr>
          <a:xfrm>
            <a:off x="563880" y="348965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am Name">
            <a:extLst>
              <a:ext uri="{FF2B5EF4-FFF2-40B4-BE49-F238E27FC236}">
                <a16:creationId xmlns:a16="http://schemas.microsoft.com/office/drawing/2014/main" id="{240C999E-2651-2DDE-E375-98B7F30ED992}"/>
              </a:ext>
            </a:extLst>
          </p:cNvPr>
          <p:cNvSpPr txBox="1"/>
          <p:nvPr/>
        </p:nvSpPr>
        <p:spPr>
          <a:xfrm>
            <a:off x="1358008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spc="300" dirty="0" err="1"/>
              <a:t>QuadraMind</a:t>
            </a:r>
            <a:endParaRPr lang="en-US" sz="1400" b="1" spc="300" dirty="0"/>
          </a:p>
        </p:txBody>
      </p:sp>
      <p:sp>
        <p:nvSpPr>
          <p:cNvPr id="10" name="Team Icon Hex">
            <a:extLst>
              <a:ext uri="{FF2B5EF4-FFF2-40B4-BE49-F238E27FC236}">
                <a16:creationId xmlns:a16="http://schemas.microsoft.com/office/drawing/2014/main" id="{3D1F29C5-4D43-F09C-8F50-5587D7F15B96}"/>
              </a:ext>
            </a:extLst>
          </p:cNvPr>
          <p:cNvSpPr/>
          <p:nvPr/>
        </p:nvSpPr>
        <p:spPr>
          <a:xfrm>
            <a:off x="645476" y="48258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12" name="Team Icon" descr="Team icon">
            <a:extLst>
              <a:ext uri="{FF2B5EF4-FFF2-40B4-BE49-F238E27FC236}">
                <a16:creationId xmlns:a16="http://schemas.microsoft.com/office/drawing/2014/main" id="{A2EC8EAB-4198-2C3E-C337-54681B07D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064" y="574020"/>
            <a:ext cx="365760" cy="365760"/>
          </a:xfrm>
          <a:prstGeom prst="rect">
            <a:avLst/>
          </a:prstGeom>
        </p:spPr>
      </p:pic>
      <p:sp>
        <p:nvSpPr>
          <p:cNvPr id="18" name="Lead Icon Hex">
            <a:extLst>
              <a:ext uri="{FF2B5EF4-FFF2-40B4-BE49-F238E27FC236}">
                <a16:creationId xmlns:a16="http://schemas.microsoft.com/office/drawing/2014/main" id="{D6D28659-9F7F-4422-292B-B218A4DD5C02}"/>
              </a:ext>
            </a:extLst>
          </p:cNvPr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20" name="Lead Icon" descr="Lightbulb icon">
            <a:extLst>
              <a:ext uri="{FF2B5EF4-FFF2-40B4-BE49-F238E27FC236}">
                <a16:creationId xmlns:a16="http://schemas.microsoft.com/office/drawing/2014/main" id="{828B8ABA-1BEC-874B-2E4E-C4A75914B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453EC85-0681-28DA-6111-06638DF30AC4}"/>
              </a:ext>
            </a:extLst>
          </p:cNvPr>
          <p:cNvSpPr txBox="1"/>
          <p:nvPr/>
        </p:nvSpPr>
        <p:spPr>
          <a:xfrm>
            <a:off x="8371892" y="6485708"/>
            <a:ext cx="623751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F7021451-1387-4CA6-816F-3879F97B5CBC}" type="slidenum">
              <a:rPr lang="en-US" sz="1100" b="1" smtClean="0"/>
              <a:pPr algn="ctr"/>
              <a:t>8</a:t>
            </a:fld>
            <a:endParaRPr 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1F830F-F7BD-0B79-CAE1-6F514C9B7E7B}"/>
              </a:ext>
            </a:extLst>
          </p:cNvPr>
          <p:cNvSpPr txBox="1"/>
          <p:nvPr/>
        </p:nvSpPr>
        <p:spPr>
          <a:xfrm>
            <a:off x="1143823" y="1305540"/>
            <a:ext cx="9668555" cy="4875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lang="en-IN" sz="1800" b="1" dirty="0">
                <a:effectLst/>
                <a:latin typeface="+mn-lt"/>
              </a:rPr>
              <a:t>What our team intends to do:</a:t>
            </a:r>
          </a:p>
          <a:p>
            <a:pPr marL="342900" lvl="0" indent="-342900"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+mn-lt"/>
                <a:ea typeface="Calibri" panose="020F0502020204030204" pitchFamily="34" charset="0"/>
              </a:rPr>
              <a:t>Build a data-trust layer on top of bearing fault detection that checks whether the sensor data is physically consistent.</a:t>
            </a:r>
          </a:p>
          <a:p>
            <a:pPr marL="342900" lvl="0" indent="-342900"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+mn-lt"/>
                <a:ea typeface="Calibri" panose="020F0502020204030204" pitchFamily="34" charset="0"/>
              </a:rPr>
              <a:t>Cross-check vibration against stator current and shaft speed, since a real fault appears in coupled signals while a sensor fault or injected data usually does not.</a:t>
            </a:r>
          </a:p>
          <a:p>
            <a:pPr marL="342900" lvl="0" indent="-342900"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+mn-lt"/>
                <a:ea typeface="Calibri" panose="020F0502020204030204" pitchFamily="34" charset="0"/>
              </a:rPr>
              <a:t>Output four states: healthy, bearing fault, sensor fault, suspected attack.</a:t>
            </a:r>
          </a:p>
          <a:p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lang="en-IN" sz="1800" b="1" dirty="0">
                <a:effectLst/>
                <a:latin typeface="+mn-lt"/>
              </a:rPr>
              <a:t>What we want to improve:</a:t>
            </a:r>
          </a:p>
          <a:p>
            <a:pPr marL="342900" lvl="0" indent="-342900"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+mn-lt"/>
                <a:ea typeface="Calibri" panose="020F0502020204030204" pitchFamily="34" charset="0"/>
              </a:rPr>
              <a:t>Move from "abnormal" to "abnormal because of X."</a:t>
            </a:r>
          </a:p>
          <a:p>
            <a:pPr marL="342900" lvl="0" indent="-342900"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+mn-lt"/>
                <a:ea typeface="Calibri" panose="020F0502020204030204" pitchFamily="34" charset="0"/>
              </a:rPr>
              <a:t>Reduce wrong actions: unnecessary shutdowns, missed faults and misdirected repairs.</a:t>
            </a:r>
          </a:p>
          <a:p>
            <a:pPr marL="342900" lvl="0" indent="-342900"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+mn-lt"/>
                <a:ea typeface="Calibri" panose="020F0502020204030204" pitchFamily="34" charset="0"/>
              </a:rPr>
              <a:t>Add security awareness to motor monitoring without new hardware.</a:t>
            </a:r>
          </a:p>
          <a:p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lang="en-IN" sz="1800" b="1" dirty="0">
                <a:effectLst/>
                <a:latin typeface="+mn-lt"/>
              </a:rPr>
              <a:t>What successful improvement looks like:</a:t>
            </a:r>
          </a:p>
          <a:p>
            <a:pPr marL="342900" lvl="0" indent="-342900"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+mn-lt"/>
                <a:ea typeface="Calibri" panose="020F0502020204030204" pitchFamily="34" charset="0"/>
              </a:rPr>
              <a:t>Correctly separates the three causes on benchmark and injected-fault data, with a clear confusion matrix (targets to be set after initial tests).</a:t>
            </a:r>
          </a:p>
          <a:p>
            <a:pPr marL="342900" lvl="0" indent="-342900"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+mn-lt"/>
                <a:ea typeface="Calibri" panose="020F0502020204030204" pitchFamily="34" charset="0"/>
              </a:rPr>
              <a:t>Runs in real time on a low-cost microcontroller.</a:t>
            </a:r>
          </a:p>
          <a:p>
            <a:pPr marL="342900" lvl="0" indent="-342900">
              <a:spcAft>
                <a:spcPts val="25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+mn-lt"/>
                <a:ea typeface="Calibri" panose="020F0502020204030204" pitchFamily="34" charset="0"/>
              </a:rPr>
              <a:t>Triggers the right response: repair, replacement or security alert.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6734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82987-2A40-544C-71D0-9F66B7603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7">
            <a:extLst>
              <a:ext uri="{FF2B5EF4-FFF2-40B4-BE49-F238E27FC236}">
                <a16:creationId xmlns:a16="http://schemas.microsoft.com/office/drawing/2014/main" id="{291B9913-E69E-A42C-DC48-E20BCE0FE331}"/>
              </a:ext>
            </a:extLst>
          </p:cNvPr>
          <p:cNvSpPr>
            <a:spLocks noGrp="1"/>
          </p:cNvSpPr>
          <p:nvPr/>
        </p:nvSpPr>
        <p:spPr>
          <a:xfrm>
            <a:off x="2985640" y="348965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 defTabSz="914400" rtl="0" eaLnBrk="1" latinLnBrk="0" hangingPunct="1">
              <a:spcBef>
                <a:spcPct val="0"/>
              </a:spcBef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CONTRIBUTION</a:t>
            </a:r>
            <a:endParaRPr lang="en-US" sz="2400" dirty="0"/>
          </a:p>
        </p:txBody>
      </p:sp>
      <p:sp>
        <p:nvSpPr>
          <p:cNvPr id="4" name="Team Badge">
            <a:extLst>
              <a:ext uri="{FF2B5EF4-FFF2-40B4-BE49-F238E27FC236}">
                <a16:creationId xmlns:a16="http://schemas.microsoft.com/office/drawing/2014/main" id="{0B97DEF0-3951-4F16-4DCA-C5907DCC56FB}"/>
              </a:ext>
            </a:extLst>
          </p:cNvPr>
          <p:cNvSpPr/>
          <p:nvPr/>
        </p:nvSpPr>
        <p:spPr>
          <a:xfrm>
            <a:off x="563880" y="348965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am Name">
            <a:extLst>
              <a:ext uri="{FF2B5EF4-FFF2-40B4-BE49-F238E27FC236}">
                <a16:creationId xmlns:a16="http://schemas.microsoft.com/office/drawing/2014/main" id="{4EC953A9-B59B-1A54-FEA1-16F4D3031372}"/>
              </a:ext>
            </a:extLst>
          </p:cNvPr>
          <p:cNvSpPr txBox="1"/>
          <p:nvPr/>
        </p:nvSpPr>
        <p:spPr>
          <a:xfrm>
            <a:off x="1358008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kern="0" spc="300" dirty="0" err="1"/>
              <a:t>QuadraMind</a:t>
            </a:r>
            <a:endParaRPr lang="en-US" sz="1400" dirty="0"/>
          </a:p>
        </p:txBody>
      </p:sp>
      <p:sp>
        <p:nvSpPr>
          <p:cNvPr id="10" name="Team Icon Hex">
            <a:extLst>
              <a:ext uri="{FF2B5EF4-FFF2-40B4-BE49-F238E27FC236}">
                <a16:creationId xmlns:a16="http://schemas.microsoft.com/office/drawing/2014/main" id="{118C1113-C265-9D71-E340-992D7FEF86F4}"/>
              </a:ext>
            </a:extLst>
          </p:cNvPr>
          <p:cNvSpPr/>
          <p:nvPr/>
        </p:nvSpPr>
        <p:spPr>
          <a:xfrm>
            <a:off x="645476" y="48258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12" name="Team Icon" descr="Team icon">
            <a:extLst>
              <a:ext uri="{FF2B5EF4-FFF2-40B4-BE49-F238E27FC236}">
                <a16:creationId xmlns:a16="http://schemas.microsoft.com/office/drawing/2014/main" id="{8DB3EE11-B49C-E992-99BD-6A6502B15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064" y="574020"/>
            <a:ext cx="365760" cy="365760"/>
          </a:xfrm>
          <a:prstGeom prst="rect">
            <a:avLst/>
          </a:prstGeom>
        </p:spPr>
      </p:pic>
      <p:sp>
        <p:nvSpPr>
          <p:cNvPr id="18" name="Lead Icon Hex">
            <a:extLst>
              <a:ext uri="{FF2B5EF4-FFF2-40B4-BE49-F238E27FC236}">
                <a16:creationId xmlns:a16="http://schemas.microsoft.com/office/drawing/2014/main" id="{BE3B6EE8-4D37-12EC-CA18-86F3421212BA}"/>
              </a:ext>
            </a:extLst>
          </p:cNvPr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20" name="Lead Icon" descr="Lightbulb icon">
            <a:extLst>
              <a:ext uri="{FF2B5EF4-FFF2-40B4-BE49-F238E27FC236}">
                <a16:creationId xmlns:a16="http://schemas.microsoft.com/office/drawing/2014/main" id="{5B0D4DCF-1251-3D9B-E237-9512C3226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761064A-757E-CB90-E3B8-B2887D139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989571"/>
              </p:ext>
            </p:extLst>
          </p:nvPr>
        </p:nvGraphicFramePr>
        <p:xfrm>
          <a:off x="1276412" y="1280048"/>
          <a:ext cx="9920322" cy="4862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6774">
                  <a:extLst>
                    <a:ext uri="{9D8B030D-6E8A-4147-A177-3AD203B41FA5}">
                      <a16:colId xmlns:a16="http://schemas.microsoft.com/office/drawing/2014/main" val="2354831622"/>
                    </a:ext>
                  </a:extLst>
                </a:gridCol>
                <a:gridCol w="3306774">
                  <a:extLst>
                    <a:ext uri="{9D8B030D-6E8A-4147-A177-3AD203B41FA5}">
                      <a16:colId xmlns:a16="http://schemas.microsoft.com/office/drawing/2014/main" val="4156244894"/>
                    </a:ext>
                  </a:extLst>
                </a:gridCol>
                <a:gridCol w="3306774">
                  <a:extLst>
                    <a:ext uri="{9D8B030D-6E8A-4147-A177-3AD203B41FA5}">
                      <a16:colId xmlns:a16="http://schemas.microsoft.com/office/drawing/2014/main" val="888378934"/>
                    </a:ext>
                  </a:extLst>
                </a:gridCol>
              </a:tblGrid>
              <a:tr h="785138">
                <a:tc>
                  <a:txBody>
                    <a:bodyPr/>
                    <a:lstStyle/>
                    <a:p>
                      <a:r>
                        <a:rPr lang="en-IN" dirty="0"/>
                        <a:t>TEAM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RESPONSIBITY IN EXECUTION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628688"/>
                  </a:ext>
                </a:extLst>
              </a:tr>
              <a:tr h="785138">
                <a:tc>
                  <a:txBody>
                    <a:bodyPr/>
                    <a:lstStyle/>
                    <a:p>
                      <a:r>
                        <a:rPr lang="en-IN" dirty="0"/>
                        <a:t>S. Sai </a:t>
                      </a:r>
                      <a:r>
                        <a:rPr lang="en-IN" dirty="0" err="1"/>
                        <a:t>Swathee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Problem Identification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Identifies the core problem and defines the problem statement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72822"/>
                  </a:ext>
                </a:extLst>
              </a:tr>
              <a:tr h="785138">
                <a:tc>
                  <a:txBody>
                    <a:bodyPr/>
                    <a:lstStyle/>
                    <a:p>
                      <a:r>
                        <a:rPr lang="en-IN" dirty="0"/>
                        <a:t>Niveditha Krishna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PPT making and 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Designs and organizes the presentation slides and researches(Technical approaches)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522008"/>
                  </a:ext>
                </a:extLst>
              </a:tr>
              <a:tr h="785138">
                <a:tc>
                  <a:txBody>
                    <a:bodyPr/>
                    <a:lstStyle/>
                    <a:p>
                      <a:r>
                        <a:rPr lang="en-IN" dirty="0"/>
                        <a:t>Sridha Anbukumar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Problem analysis and novelty</a:t>
                      </a:r>
                    </a:p>
                    <a:p>
                      <a:r>
                        <a:rPr lang="en-IN" dirty="0"/>
                        <a:t>checking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Analysis existing solutions and identifies research gaps and potential novelty.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311871"/>
                  </a:ext>
                </a:extLst>
              </a:tr>
              <a:tr h="785138">
                <a:tc>
                  <a:txBody>
                    <a:bodyPr/>
                    <a:lstStyle/>
                    <a:p>
                      <a:r>
                        <a:rPr lang="en-IN" dirty="0"/>
                        <a:t>V. Harshini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PPT making and content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Designs and organizes the presentation slides and researches(Technical approaches).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86511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C1CFE1C-EF85-86B1-DEDA-AC403CD3D666}"/>
              </a:ext>
            </a:extLst>
          </p:cNvPr>
          <p:cNvSpPr txBox="1"/>
          <p:nvPr/>
        </p:nvSpPr>
        <p:spPr>
          <a:xfrm>
            <a:off x="8371892" y="6485708"/>
            <a:ext cx="623751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37521651"/>
      </p:ext>
    </p:extLst>
  </p:cSld>
  <p:clrMapOvr>
    <a:masterClrMapping/>
  </p:clrMapOvr>
</p:sld>
</file>

<file path=ppt/theme/theme1.xml><?xml version="1.0" encoding="utf-8"?>
<a:theme xmlns:a="http://schemas.openxmlformats.org/drawingml/2006/main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1410</Words>
  <Application>Microsoft Office PowerPoint</Application>
  <PresentationFormat>Widescreen</PresentationFormat>
  <Paragraphs>162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Wingdings</vt:lpstr>
      <vt:lpstr>Genesis Ideathon</vt:lpstr>
      <vt:lpstr>PowerPoint Presentation</vt:lpstr>
      <vt:lpstr>DOMAIN PROBLEM IN OUR WORDS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 Ideathon – Pre-Ideathon Template</dc:title>
  <dc:subject>PptxGenJS Presentation</dc:subject>
  <dc:creator>Genesis Ideathon</dc:creator>
  <cp:lastModifiedBy>Sridha Anbukumar</cp:lastModifiedBy>
  <cp:revision>7</cp:revision>
  <dcterms:created xsi:type="dcterms:W3CDTF">2026-10-07T15:27:40Z</dcterms:created>
  <dcterms:modified xsi:type="dcterms:W3CDTF">2026-10-09T19:23:33Z</dcterms:modified>
</cp:coreProperties>
</file>